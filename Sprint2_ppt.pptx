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754880"/>
            <a:ext cx="4572000" cy="457200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0EA5A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991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DEMO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Ratio Analysis Engine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statements to a live Financial Health Score — Day 1 through Day 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1,209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22960" y="5440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Processed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91840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291840" y="5440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Columns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60720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760720" y="5440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Ratios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0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229600" y="5440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Days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37160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the 6-day build, from schema design to a scored, query-ready database.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176272"/>
            <a:ext cx="384048" cy="384048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20665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Objective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325880" y="24231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this engine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9202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176272"/>
            <a:ext cx="384048" cy="384048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40880" y="20665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Database Loading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040880" y="24231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the raw source data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4290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" y="3685032"/>
            <a:ext cx="384048" cy="384048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325880" y="35753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Merge Engine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325880" y="39319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five tables into one dataset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263640" y="34290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92240" y="3685032"/>
            <a:ext cx="384048" cy="384048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23" name="Text 20"/>
          <p:cNvSpPr/>
          <p:nvPr/>
        </p:nvSpPr>
        <p:spPr>
          <a:xfrm>
            <a:off x="649224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040880" y="35753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Ratio Engine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7040880" y="39319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7 core financial ratios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48640" y="49377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77240" y="5193792"/>
            <a:ext cx="384048" cy="384048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28" name="Text 25"/>
          <p:cNvSpPr/>
          <p:nvPr/>
        </p:nvSpPr>
        <p:spPr>
          <a:xfrm>
            <a:off x="77724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325880" y="50840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Financial Health Score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1325880" y="54406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composite rating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263640" y="49377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492240" y="5193792"/>
            <a:ext cx="384048" cy="384048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33" name="Text 30"/>
          <p:cNvSpPr/>
          <p:nvPr/>
        </p:nvSpPr>
        <p:spPr>
          <a:xfrm>
            <a:off x="649224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040880" y="50840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&amp; 6 — Testing + SQLite Integration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7040880" y="54406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and shipping results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0EA5A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84216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5544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31089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automated pipeline that turns raw Nifty 100 financial statements into consistent, comparable ratios.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877824"/>
            <a:ext cx="128016" cy="128016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0" y="6858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multi-year financials (P&amp;L, Balance Sheet, Cash Flow, Market Cap, Analysis) in one relational database.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663440" y="1883664"/>
            <a:ext cx="128016" cy="128016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169164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these sources into a single analysis-ready dataset, keyed by company and year.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663440" y="2889504"/>
            <a:ext cx="128016" cy="128016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269748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7 standardized ratios covering profitability, efficiency, and solvency.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663440" y="3895344"/>
            <a:ext cx="128016" cy="128016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370332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one composite Financial Health Score per company-year.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663440" y="4901184"/>
            <a:ext cx="128016" cy="128016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470916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everything to SQLite for fast, repeatable querying.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Loading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1234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Nifty 100 financials are ingested into nifty100.db across five source tables.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828800"/>
          <a:ext cx="9418320" cy="3291840"/>
        </p:xfrm>
        <a:graphic>
          <a:graphicData uri="http://schemas.openxmlformats.org/drawingml/2006/table">
            <a:tbl>
              <a:tblPr/>
              <a:tblGrid>
                <a:gridCol w="2926080"/>
                <a:gridCol w="5120640"/>
                <a:gridCol w="1371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&amp; Loss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sales, operating profit, net profit, EPS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Sheet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equity, reserves, borrowings, total assets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/ investing / financing activity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cap, PE, PB, EV/EBITDA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compounded growth, stock CAGR, ROE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Engine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1234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source tables are progressively left-merged on company_id + year into one wide dataset.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371600" y="219456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508760" y="24231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+ Balance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08760" y="3291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(1,079, 26)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721608" y="2971800"/>
            <a:ext cx="274320" cy="320040"/>
          </a:xfrm>
          <a:prstGeom prst="rightArrow">
            <a:avLst/>
          </a:prstGeom>
          <a:solidFill>
            <a:srgbClr val="C7CFE2"/>
          </a:solidFill>
          <a:ln/>
        </p:spPr>
      </p:sp>
      <p:sp>
        <p:nvSpPr>
          <p:cNvPr id="10" name="Shape 7"/>
          <p:cNvSpPr/>
          <p:nvPr/>
        </p:nvSpPr>
        <p:spPr>
          <a:xfrm>
            <a:off x="4069080" y="219456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206240" y="24231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Cash Flow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206240" y="3291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(1,065, 31)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19088" y="2971800"/>
            <a:ext cx="274320" cy="320040"/>
          </a:xfrm>
          <a:prstGeom prst="rightArrow">
            <a:avLst/>
          </a:prstGeom>
          <a:solidFill>
            <a:srgbClr val="C7CFE2"/>
          </a:solidFill>
          <a:ln/>
        </p:spPr>
      </p:sp>
      <p:sp>
        <p:nvSpPr>
          <p:cNvPr id="14" name="Shape 11"/>
          <p:cNvSpPr/>
          <p:nvPr/>
        </p:nvSpPr>
        <p:spPr>
          <a:xfrm>
            <a:off x="6766560" y="219456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903720" y="24231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Market Cap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903720" y="3291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(1,065, 37)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116568" y="2971800"/>
            <a:ext cx="274320" cy="320040"/>
          </a:xfrm>
          <a:prstGeom prst="rightArrow">
            <a:avLst/>
          </a:prstGeom>
          <a:solidFill>
            <a:srgbClr val="C7CFE2"/>
          </a:solidFill>
          <a:ln/>
        </p:spPr>
      </p:sp>
      <p:sp>
        <p:nvSpPr>
          <p:cNvPr id="18" name="Shape 15"/>
          <p:cNvSpPr/>
          <p:nvPr/>
        </p:nvSpPr>
        <p:spPr>
          <a:xfrm>
            <a:off x="9464040" y="2194560"/>
            <a:ext cx="233172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601200" y="24231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Analysis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601200" y="3291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(1,209, 41)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1,209 rows x 41 columns — the direct input to the Ratio Engine.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 Engine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1234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pandas module reads the merged dataset and computes 7 ratios per company-year.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1371600" y="1965960"/>
            <a:ext cx="4617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508760" y="2098548"/>
            <a:ext cx="237744" cy="237744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8" name="Text 5"/>
          <p:cNvSpPr/>
          <p:nvPr/>
        </p:nvSpPr>
        <p:spPr>
          <a:xfrm>
            <a:off x="1874520" y="196596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Margin %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965960"/>
            <a:ext cx="4617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098548"/>
            <a:ext cx="237744" cy="237744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11" name="Text 8"/>
          <p:cNvSpPr/>
          <p:nvPr/>
        </p:nvSpPr>
        <p:spPr>
          <a:xfrm>
            <a:off x="6812280" y="196596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Equity (ROE) %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371600" y="2624328"/>
            <a:ext cx="4617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508760" y="2756916"/>
            <a:ext cx="237744" cy="237744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14" name="Text 11"/>
          <p:cNvSpPr/>
          <p:nvPr/>
        </p:nvSpPr>
        <p:spPr>
          <a:xfrm>
            <a:off x="1874520" y="262432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 %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309360" y="2624328"/>
            <a:ext cx="4617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46520" y="2756916"/>
            <a:ext cx="237744" cy="237744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17" name="Text 14"/>
          <p:cNvSpPr/>
          <p:nvPr/>
        </p:nvSpPr>
        <p:spPr>
          <a:xfrm>
            <a:off x="6812280" y="262432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%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1371600" y="3282696"/>
            <a:ext cx="4617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508760" y="3415284"/>
            <a:ext cx="237744" cy="237744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20" name="Text 17"/>
          <p:cNvSpPr/>
          <p:nvPr/>
        </p:nvSpPr>
        <p:spPr>
          <a:xfrm>
            <a:off x="1874520" y="328269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Coverage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309360" y="3282696"/>
            <a:ext cx="4617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46520" y="3415284"/>
            <a:ext cx="237744" cy="237744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23" name="Text 20"/>
          <p:cNvSpPr/>
          <p:nvPr/>
        </p:nvSpPr>
        <p:spPr>
          <a:xfrm>
            <a:off x="6812280" y="328269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Turnover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1371600" y="3941064"/>
            <a:ext cx="4617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508760" y="4073652"/>
            <a:ext cx="237744" cy="237744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26" name="Text 23"/>
          <p:cNvSpPr/>
          <p:nvPr/>
        </p:nvSpPr>
        <p:spPr>
          <a:xfrm>
            <a:off x="1874520" y="394106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 (Cr)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371600" y="46177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saved all 1,209 rows to financial_ratios, with graceful NaN handling for missing early-year data.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Ratios — Sample Output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37160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extract from the financial_ratios table for company ABB.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691640"/>
          <a:ext cx="94183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463040"/>
                <a:gridCol w="1463040"/>
                <a:gridCol w="146304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Margin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ROE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ROCE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improved from 3 to 4 as ROCE and ROA strengthened between 2012 and 2017.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ROCE &amp; ROA — Efficiency Ratios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Capital Employed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68680" y="214884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EEF1F8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148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 % = Operating Profit / Capital Employed x 100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28346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efficiency across all capital — equity and debt — making it more complete than ROE alone for capital-intensive businesses.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A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28.7% — 33.9%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68680" y="4617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ABB's ROCE range, 2012-2017 — strong, stable capital efficiency.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17920" y="137160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3796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Assets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537960" y="214884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161C4D"/>
          </a:solidFill>
          <a:ln/>
        </p:spPr>
      </p:sp>
      <p:sp>
        <p:nvSpPr>
          <p:cNvPr id="15" name="Text 12"/>
          <p:cNvSpPr/>
          <p:nvPr/>
        </p:nvSpPr>
        <p:spPr>
          <a:xfrm>
            <a:off x="6537960" y="2148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% = Net Profit / Total Assets x 100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537960" y="28346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pure operational asset efficiency, independent of how the company is financed.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37960" y="3977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A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15.99% -&gt; 13.41%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537960" y="4617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ABB's ROA, 2012 to 2017 — asset base grew faster than profit in later years.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0EA5A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84216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4592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Health Score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32004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composite rating built from profitability, efficiency, and solvency signals.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5488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to the Score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23444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4828032" y="1234440"/>
            <a:ext cx="1271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Margin 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91072" y="123444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11" name="Text 8"/>
          <p:cNvSpPr/>
          <p:nvPr/>
        </p:nvSpPr>
        <p:spPr>
          <a:xfrm>
            <a:off x="6364224" y="1234440"/>
            <a:ext cx="1271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Equity %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827264" y="123444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13" name="Text 10"/>
          <p:cNvSpPr/>
          <p:nvPr/>
        </p:nvSpPr>
        <p:spPr>
          <a:xfrm>
            <a:off x="7900416" y="1234440"/>
            <a:ext cx="1271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 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363456" y="123444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15" name="Text 12"/>
          <p:cNvSpPr/>
          <p:nvPr/>
        </p:nvSpPr>
        <p:spPr>
          <a:xfrm>
            <a:off x="9436608" y="1234440"/>
            <a:ext cx="1271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%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0899648" y="123444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0" y="1234440"/>
            <a:ext cx="1271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Coverage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5488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 Score Trend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754880" y="3200400"/>
            <a:ext cx="1188720" cy="1371600"/>
          </a:xfrm>
          <a:prstGeom prst="roundRect">
            <a:avLst>
              <a:gd name="adj" fmla="val 3846"/>
            </a:avLst>
          </a:prstGeom>
          <a:solidFill>
            <a:srgbClr val="CADCFC"/>
          </a:solidFill>
          <a:ln/>
        </p:spPr>
      </p:sp>
      <p:sp>
        <p:nvSpPr>
          <p:cNvPr id="20" name="Text 17"/>
          <p:cNvSpPr/>
          <p:nvPr/>
        </p:nvSpPr>
        <p:spPr>
          <a:xfrm>
            <a:off x="4754880" y="2834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54880" y="4617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72200" y="3200400"/>
            <a:ext cx="1188720" cy="1371600"/>
          </a:xfrm>
          <a:prstGeom prst="roundRect">
            <a:avLst>
              <a:gd name="adj" fmla="val 3846"/>
            </a:avLst>
          </a:prstGeom>
          <a:solidFill>
            <a:srgbClr val="CADCFC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2834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172200" y="4617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589520" y="3200400"/>
            <a:ext cx="1188720" cy="1371600"/>
          </a:xfrm>
          <a:prstGeom prst="roundRect">
            <a:avLst>
              <a:gd name="adj" fmla="val 3846"/>
            </a:avLst>
          </a:prstGeom>
          <a:solidFill>
            <a:srgbClr val="CADCFC"/>
          </a:solidFill>
          <a:ln/>
        </p:spPr>
      </p:sp>
      <p:sp>
        <p:nvSpPr>
          <p:cNvPr id="26" name="Text 23"/>
          <p:cNvSpPr/>
          <p:nvPr/>
        </p:nvSpPr>
        <p:spPr>
          <a:xfrm>
            <a:off x="7589520" y="2834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589520" y="4617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9006840" y="2743200"/>
            <a:ext cx="1188720" cy="1828800"/>
          </a:xfrm>
          <a:prstGeom prst="roundRect">
            <a:avLst>
              <a:gd name="adj" fmla="val 3846"/>
            </a:avLst>
          </a:prstGeom>
          <a:solidFill>
            <a:srgbClr val="0EA5A5"/>
          </a:solidFill>
          <a:ln/>
        </p:spPr>
      </p:sp>
      <p:sp>
        <p:nvSpPr>
          <p:cNvPr id="29" name="Text 26"/>
          <p:cNvSpPr/>
          <p:nvPr/>
        </p:nvSpPr>
        <p:spPr>
          <a:xfrm>
            <a:off x="900684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006840" y="4617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10424160" y="2743200"/>
            <a:ext cx="1188720" cy="1828800"/>
          </a:xfrm>
          <a:prstGeom prst="roundRect">
            <a:avLst>
              <a:gd name="adj" fmla="val 3846"/>
            </a:avLst>
          </a:prstGeom>
          <a:solidFill>
            <a:srgbClr val="0EA5A5"/>
          </a:solidFill>
          <a:ln/>
        </p:spPr>
      </p:sp>
      <p:sp>
        <p:nvSpPr>
          <p:cNvPr id="32" name="Text 29"/>
          <p:cNvSpPr/>
          <p:nvPr/>
        </p:nvSpPr>
        <p:spPr>
          <a:xfrm>
            <a:off x="1042416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0424160" y="4617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40080"/>
            <a:ext cx="777240" cy="777240"/>
          </a:xfrm>
          <a:prstGeom prst="ellipse">
            <a:avLst/>
          </a:prstGeom>
          <a:solidFill>
            <a:srgbClr val="0EA5A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84216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00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 — Wrap Up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&amp; Day 6 closed out the sprint with verification and final integration.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22960" y="283464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161C4D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3063240"/>
            <a:ext cx="502920" cy="502920"/>
          </a:xfrm>
          <a:prstGeom prst="ellipse">
            <a:avLst/>
          </a:prstGeom>
          <a:solidFill>
            <a:srgbClr val="0EA5A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319" y="319399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— Testing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051560" y="365760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run verified, SQL spot-checks passed, NaN handling confirmed correct.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172200" y="283464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161C4D"/>
          </a:solidFill>
          <a:ln/>
        </p:spPr>
      </p:sp>
      <p:sp>
        <p:nvSpPr>
          <p:cNvPr id="13" name="Shape 9"/>
          <p:cNvSpPr/>
          <p:nvPr/>
        </p:nvSpPr>
        <p:spPr>
          <a:xfrm>
            <a:off x="6400800" y="3063240"/>
            <a:ext cx="502920" cy="502920"/>
          </a:xfrm>
          <a:prstGeom prst="ellipse">
            <a:avLst/>
          </a:prstGeom>
          <a:solidFill>
            <a:srgbClr val="0EA5A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559" y="319399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4088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— SQLite Integration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00800" y="365760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1,209 rows persisted to financial_ratios; schema finalized and handed off for querying.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822960" y="50749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reproducible pipeline from raw statements to a scored, query-ready database.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Sprint2_Demo</dc:title>
  <dc:subject>PptxGenJS Presentation</dc:subject>
  <dc:creator>Sprint 2 Demo</dc:creator>
  <cp:lastModifiedBy>Sprint 2 Demo</cp:lastModifiedBy>
  <cp:revision>1</cp:revision>
  <dcterms:created xsi:type="dcterms:W3CDTF">2026-07-04T08:56:53Z</dcterms:created>
  <dcterms:modified xsi:type="dcterms:W3CDTF">2026-07-04T08:56:53Z</dcterms:modified>
</cp:coreProperties>
</file>